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319" r:id="rId8"/>
    <p:sldId id="320" r:id="rId9"/>
    <p:sldId id="321" r:id="rId10"/>
    <p:sldId id="322" r:id="rId11"/>
    <p:sldId id="323" r:id="rId12"/>
    <p:sldId id="324" r:id="rId13"/>
    <p:sldId id="325" r:id="rId14"/>
    <p:sldId id="326" r:id="rId15"/>
    <p:sldId id="327" r:id="rId16"/>
    <p:sldId id="328" r:id="rId17"/>
    <p:sldId id="329" r:id="rId18"/>
    <p:sldId id="330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3AE24D-04D5-4F5F-9720-5463AED25156}" type="datetimeFigureOut">
              <a:rPr lang="en-IN" smtClean="0"/>
              <a:t>03-04-2026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8A8FF3-E886-446C-BD40-B0856AB9F05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373536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8A8FF3-E886-446C-BD40-B0856AB9F055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597253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42416" y="2514601"/>
            <a:ext cx="6600451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42416" y="4777380"/>
            <a:ext cx="6600451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8"/>
          <p:cNvSpPr/>
          <p:nvPr/>
        </p:nvSpPr>
        <p:spPr bwMode="auto">
          <a:xfrm>
            <a:off x="-31719" y="4321158"/>
            <a:ext cx="1395473" cy="781781"/>
          </a:xfrm>
          <a:custGeom>
            <a:avLst/>
            <a:gdLst/>
            <a:ahLst/>
            <a:cxnLst/>
            <a:rect l="l" t="t" r="r" b="b"/>
            <a:pathLst>
              <a:path w="8042" h="10000">
                <a:moveTo>
                  <a:pt x="5799" y="10000"/>
                </a:moveTo>
                <a:cubicBezTo>
                  <a:pt x="5880" y="10000"/>
                  <a:pt x="5934" y="9940"/>
                  <a:pt x="5961" y="9880"/>
                </a:cubicBezTo>
                <a:cubicBezTo>
                  <a:pt x="5961" y="9820"/>
                  <a:pt x="5988" y="9820"/>
                  <a:pt x="5988" y="9820"/>
                </a:cubicBezTo>
                <a:lnTo>
                  <a:pt x="8042" y="5260"/>
                </a:lnTo>
                <a:cubicBezTo>
                  <a:pt x="8096" y="5140"/>
                  <a:pt x="8096" y="4901"/>
                  <a:pt x="8042" y="4721"/>
                </a:cubicBezTo>
                <a:lnTo>
                  <a:pt x="5988" y="221"/>
                </a:lnTo>
                <a:cubicBezTo>
                  <a:pt x="5988" y="160"/>
                  <a:pt x="5961" y="160"/>
                  <a:pt x="5961" y="160"/>
                </a:cubicBezTo>
                <a:cubicBezTo>
                  <a:pt x="5934" y="101"/>
                  <a:pt x="5880" y="41"/>
                  <a:pt x="5799" y="41"/>
                </a:cubicBezTo>
                <a:lnTo>
                  <a:pt x="18" y="0"/>
                </a:lnTo>
                <a:cubicBezTo>
                  <a:pt x="12" y="3330"/>
                  <a:pt x="6" y="6661"/>
                  <a:pt x="0" y="9991"/>
                </a:cubicBezTo>
                <a:lnTo>
                  <a:pt x="5799" y="10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23334" y="4529541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9907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5201" y="624110"/>
            <a:ext cx="6589199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42415" y="2133600"/>
            <a:ext cx="6591985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001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2074562"/>
            <a:ext cx="6591985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2415" y="3581400"/>
            <a:ext cx="6591985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58" y="3166527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3244140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95445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42416" y="2136706"/>
            <a:ext cx="3197531" cy="376739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37307" y="2136706"/>
            <a:ext cx="3197093" cy="376739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787783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9233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65352" y="2226626"/>
            <a:ext cx="287459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42415" y="2802888"/>
            <a:ext cx="3197532" cy="310570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6154" y="2223398"/>
            <a:ext cx="28732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333715" y="2799660"/>
            <a:ext cx="3195680" cy="310570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787783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1807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5200" y="624110"/>
            <a:ext cx="6589200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8344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9699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446088"/>
            <a:ext cx="2629584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3494" y="446089"/>
            <a:ext cx="3790906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1598613"/>
            <a:ext cx="2629584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47520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4800600"/>
            <a:ext cx="6591985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42415" y="634965"/>
            <a:ext cx="6591985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5367338"/>
            <a:ext cx="6591985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4910660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11228" y="4983088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1643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609600"/>
            <a:ext cx="6591985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2415" y="4354046"/>
            <a:ext cx="6591985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3166527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3244140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97574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8123" y="609600"/>
            <a:ext cx="6109587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415972" y="3505200"/>
            <a:ext cx="5653888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2415" y="4354046"/>
            <a:ext cx="6591985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Freeform 11"/>
          <p:cNvSpPr/>
          <p:nvPr/>
        </p:nvSpPr>
        <p:spPr bwMode="auto">
          <a:xfrm flipV="1">
            <a:off x="58" y="3166527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3244140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1808316" y="648005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9533" y="290530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861656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2438401"/>
            <a:ext cx="6591985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5181600"/>
            <a:ext cx="6591985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58" y="4910660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11228" y="4983088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4883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2188123" y="609600"/>
            <a:ext cx="6109587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942415" y="4343400"/>
            <a:ext cx="6688292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5181600"/>
            <a:ext cx="6688292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0" name="Freeform 11"/>
          <p:cNvSpPr/>
          <p:nvPr/>
        </p:nvSpPr>
        <p:spPr bwMode="auto">
          <a:xfrm flipV="1">
            <a:off x="58" y="4910660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11228" y="4983088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1808316" y="648005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9533" y="290530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0267850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6" y="627407"/>
            <a:ext cx="6591984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942415" y="4343400"/>
            <a:ext cx="6591985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5181600"/>
            <a:ext cx="6591985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4910660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11228" y="4983088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45631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9165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78535" y="627406"/>
            <a:ext cx="1656132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942416" y="627406"/>
            <a:ext cx="4716348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82491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/>
          <p:cNvGrpSpPr/>
          <p:nvPr/>
        </p:nvGrpSpPr>
        <p:grpSpPr>
          <a:xfrm>
            <a:off x="1" y="228600"/>
            <a:ext cx="1981200" cy="6638628"/>
            <a:chOff x="2487613" y="285750"/>
            <a:chExt cx="2428875" cy="5654676"/>
          </a:xfrm>
        </p:grpSpPr>
        <p:sp>
          <p:nvSpPr>
            <p:cNvPr id="37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8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9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0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1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2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3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4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5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6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7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8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49" name="Group 48"/>
          <p:cNvGrpSpPr/>
          <p:nvPr/>
        </p:nvGrpSpPr>
        <p:grpSpPr>
          <a:xfrm>
            <a:off x="20421" y="285"/>
            <a:ext cx="1952272" cy="6852968"/>
            <a:chOff x="6627813" y="195717"/>
            <a:chExt cx="1952625" cy="5678034"/>
          </a:xfrm>
        </p:grpSpPr>
        <p:sp>
          <p:nvSpPr>
            <p:cNvPr id="50" name="Freeform 27"/>
            <p:cNvSpPr/>
            <p:nvPr/>
          </p:nvSpPr>
          <p:spPr bwMode="auto">
            <a:xfrm>
              <a:off x="6627813" y="195717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1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2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3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4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5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6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7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8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9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60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61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62" name="Rectangle 6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45200" y="624110"/>
            <a:ext cx="6589200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2415" y="2133600"/>
            <a:ext cx="6591985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772400" y="6135089"/>
            <a:ext cx="766380" cy="370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42415" y="6135809"/>
            <a:ext cx="571648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11228" y="787783"/>
            <a:ext cx="58497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0134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dfreephotos.com/business-and-technology/laptop-screen-with-analytics.jpg.php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mavenanalytics.io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5200" y="624110"/>
            <a:ext cx="45719" cy="1280890"/>
          </a:xfrm>
        </p:spPr>
        <p:txBody>
          <a:bodyPr>
            <a:noAutofit/>
          </a:bodyPr>
          <a:lstStyle/>
          <a:p>
            <a:endParaRPr sz="4800" i="1" dirty="0">
              <a:solidFill>
                <a:schemeClr val="bg2">
                  <a:lumMod val="25000"/>
                </a:schemeClr>
              </a:solidFill>
              <a:latin typeface="Arial Black" panose="020B0A04020102020204" pitchFamily="34" charset="0"/>
            </a:endParaRP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3BE068C8-BB4C-187A-9229-2D9F951524CF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-49161" y="0"/>
            <a:ext cx="4621161" cy="6858000"/>
          </a:xfr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FA909564-099D-51AC-43FB-3A77627B34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729316" y="643773"/>
            <a:ext cx="4495800" cy="58256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4400" b="1" i="1" dirty="0">
                <a:solidFill>
                  <a:schemeClr val="tx2">
                    <a:lumMod val="75000"/>
                  </a:schemeClr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Banking Customer </a:t>
            </a:r>
          </a:p>
          <a:p>
            <a:pPr marL="0" indent="0">
              <a:buNone/>
            </a:pPr>
            <a:r>
              <a:rPr lang="en-IN" sz="4400" b="1" i="1" dirty="0">
                <a:solidFill>
                  <a:schemeClr val="tx2">
                    <a:lumMod val="75000"/>
                  </a:schemeClr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Churn Analysis</a:t>
            </a:r>
          </a:p>
          <a:p>
            <a:pPr marL="0" indent="0">
              <a:buNone/>
            </a:pPr>
            <a:endParaRPr lang="en-IN" sz="4400" b="1" i="1" dirty="0">
              <a:solidFill>
                <a:schemeClr val="tx2">
                  <a:lumMod val="75000"/>
                </a:schemeClr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indent="0">
              <a:buNone/>
            </a:pPr>
            <a:r>
              <a:rPr lang="en-IN" sz="1600" b="1" i="1" dirty="0">
                <a:solidFill>
                  <a:schemeClr val="tx1">
                    <a:lumMod val="85000"/>
                    <a:lumOff val="1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Prepared By:</a:t>
            </a:r>
          </a:p>
          <a:p>
            <a:pPr marL="0" indent="0">
              <a:buNone/>
            </a:pPr>
            <a:r>
              <a:rPr lang="en-IN" sz="2400" b="1" i="1" dirty="0">
                <a:solidFill>
                  <a:schemeClr val="tx1">
                    <a:lumMod val="85000"/>
                    <a:lumOff val="1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Mariya Babu</a:t>
            </a:r>
            <a:endParaRPr lang="en-IN" sz="2400" b="1" dirty="0">
              <a:solidFill>
                <a:schemeClr val="tx1">
                  <a:lumMod val="85000"/>
                  <a:lumOff val="1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2414" y="506665"/>
            <a:ext cx="6589199" cy="880225"/>
          </a:xfrm>
        </p:spPr>
        <p:txBody>
          <a:bodyPr>
            <a:normAutofit/>
          </a:bodyPr>
          <a:lstStyle/>
          <a:p>
            <a:r>
              <a:rPr lang="en-US" sz="4400" b="1" u="sng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Introduction</a:t>
            </a:r>
            <a:endParaRPr sz="4400" b="1" u="sng" dirty="0">
              <a:solidFill>
                <a:srgbClr val="00206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57279" y="1540189"/>
            <a:ext cx="6591985" cy="3777622"/>
          </a:xfrm>
        </p:spPr>
        <p:txBody>
          <a:bodyPr/>
          <a:lstStyle/>
          <a:p>
            <a:r>
              <a:rPr lang="en-US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Customer Churn : Customers leaving the bank.</a:t>
            </a:r>
          </a:p>
          <a:p>
            <a:r>
              <a:rPr lang="en-US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Loss of revenue and increased acquisition costs.</a:t>
            </a:r>
          </a:p>
          <a:p>
            <a:r>
              <a:rPr lang="en-US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Difficult to identify customers who are likely to leave.</a:t>
            </a:r>
          </a:p>
          <a:p>
            <a:r>
              <a:rPr lang="en-US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Analyze customer data and identify key factors influencing churn.</a:t>
            </a:r>
          </a:p>
          <a:p>
            <a:r>
              <a:rPr lang="en-US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Predict at-risk customers and improve retention strategies.</a:t>
            </a:r>
          </a:p>
          <a:p>
            <a:pPr marL="0" indent="0">
              <a:buNone/>
            </a:pP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b="1" u="sng" dirty="0">
                <a:solidFill>
                  <a:srgbClr val="002060"/>
                </a:solidFill>
              </a:rPr>
              <a:t>Dataset Overview </a:t>
            </a:r>
            <a:endParaRPr sz="4400" b="1" u="sng" dirty="0">
              <a:solidFill>
                <a:srgbClr val="00206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Dataset from </a:t>
            </a:r>
            <a:r>
              <a:rPr lang="en-US" sz="2000" dirty="0">
                <a:solidFill>
                  <a:srgbClr val="FB4A18"/>
                </a:solidFill>
                <a:latin typeface="Cambria" panose="02040503050406030204" pitchFamily="18" charset="0"/>
                <a:ea typeface="Cambria" panose="020405030504060302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https://mavenanalytics.io</a:t>
            </a:r>
            <a:r>
              <a:rPr lang="en-US" sz="20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endParaRPr lang="en-US" sz="2000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US" sz="20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10,000 customers at a European bank.</a:t>
            </a:r>
          </a:p>
          <a:p>
            <a:r>
              <a:rPr lang="en-US" sz="20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13 variables for analysis</a:t>
            </a:r>
          </a:p>
          <a:p>
            <a:pPr marL="0" indent="0">
              <a:buNone/>
            </a:pPr>
            <a:r>
              <a:rPr lang="en-IN" dirty="0"/>
              <a:t>      </a:t>
            </a:r>
            <a:r>
              <a:rPr lang="en-IN" dirty="0">
                <a:solidFill>
                  <a:schemeClr val="tx1">
                    <a:lumMod val="85000"/>
                    <a:lumOff val="1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1. Customer Info: Age, Gender, Geography</a:t>
            </a:r>
          </a:p>
          <a:p>
            <a:pPr marL="0" indent="0">
              <a:buNone/>
            </a:pPr>
            <a:r>
              <a:rPr lang="en-IN" dirty="0">
                <a:solidFill>
                  <a:schemeClr val="tx1">
                    <a:lumMod val="85000"/>
                    <a:lumOff val="1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       2. Account Info: Balance, Tenure, </a:t>
            </a:r>
            <a:r>
              <a:rPr lang="en-IN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Products,Salary</a:t>
            </a:r>
            <a:endParaRPr lang="en-IN" dirty="0">
              <a:solidFill>
                <a:schemeClr val="tx1">
                  <a:lumMod val="85000"/>
                  <a:lumOff val="1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indent="0">
              <a:buNone/>
            </a:pPr>
            <a:r>
              <a:rPr lang="en-IN" dirty="0">
                <a:solidFill>
                  <a:schemeClr val="tx1">
                    <a:lumMod val="85000"/>
                    <a:lumOff val="1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       3. </a:t>
            </a:r>
            <a:r>
              <a:rPr lang="en-IN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Behavior</a:t>
            </a:r>
            <a:r>
              <a:rPr lang="en-IN" dirty="0">
                <a:solidFill>
                  <a:schemeClr val="tx1">
                    <a:lumMod val="85000"/>
                    <a:lumOff val="1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Active Status, Credit Card Score and availability</a:t>
            </a:r>
          </a:p>
          <a:p>
            <a:pPr marL="0" indent="0">
              <a:buNone/>
            </a:pPr>
            <a:r>
              <a:rPr lang="en-IN" dirty="0">
                <a:solidFill>
                  <a:schemeClr val="tx1">
                    <a:lumMod val="85000"/>
                    <a:lumOff val="1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       4. Target: Churn (Exited / Not Exited)</a:t>
            </a:r>
          </a:p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b="1" u="sng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Tech Stack</a:t>
            </a:r>
            <a:endParaRPr sz="4400" b="1" u="sng" dirty="0">
              <a:solidFill>
                <a:srgbClr val="00206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Language : Python</a:t>
            </a:r>
          </a:p>
          <a:p>
            <a:r>
              <a:rPr lang="en-US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Data Manipulation: </a:t>
            </a:r>
            <a:r>
              <a:rPr lang="en-US" sz="20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Numpy,Pandas</a:t>
            </a:r>
            <a:endParaRPr lang="en-US" sz="2000" dirty="0">
              <a:solidFill>
                <a:schemeClr val="tx1">
                  <a:lumMod val="95000"/>
                  <a:lumOff val="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US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Visualization : Seaborn, Matplotlib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b="1" u="sng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Data Handling</a:t>
            </a:r>
            <a:endParaRPr sz="4400" b="1" u="sng" dirty="0">
              <a:solidFill>
                <a:srgbClr val="00206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Missing values</a:t>
            </a:r>
          </a:p>
          <a:p>
            <a:pPr marL="0" indent="0">
              <a:buNone/>
            </a:pPr>
            <a:r>
              <a:rPr lang="en-US" dirty="0"/>
              <a:t>      </a:t>
            </a:r>
            <a:r>
              <a:rPr lang="en-IN" dirty="0"/>
              <a:t>-Applied mean amputation for numerical values.</a:t>
            </a:r>
          </a:p>
          <a:p>
            <a:pPr marL="0" indent="0">
              <a:buNone/>
            </a:pPr>
            <a:r>
              <a:rPr lang="en-IN" dirty="0"/>
              <a:t>      -Removed the column Surname as it is not necessary </a:t>
            </a:r>
          </a:p>
          <a:p>
            <a:pPr marL="0" indent="0">
              <a:buNone/>
            </a:pPr>
            <a:r>
              <a:rPr lang="en-IN" dirty="0"/>
              <a:t>        for analysis.</a:t>
            </a:r>
          </a:p>
          <a:p>
            <a:r>
              <a:rPr lang="en-IN" dirty="0"/>
              <a:t>Duplicates</a:t>
            </a:r>
          </a:p>
          <a:p>
            <a:pPr marL="0" indent="0">
              <a:buNone/>
            </a:pPr>
            <a:r>
              <a:rPr lang="en-IN" dirty="0"/>
              <a:t>	-Removed the duplicates.</a:t>
            </a:r>
          </a:p>
          <a:p>
            <a:r>
              <a:rPr lang="en-IN" dirty="0"/>
              <a:t>Removed unwanted symbols.</a:t>
            </a:r>
          </a:p>
          <a:p>
            <a:r>
              <a:rPr lang="en-IN" dirty="0"/>
              <a:t>Changed the datatypes.</a:t>
            </a:r>
          </a:p>
          <a:p>
            <a:r>
              <a:rPr lang="en-IN" dirty="0"/>
              <a:t>Formatted column headers and standardized the column values.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92916" y="624110"/>
            <a:ext cx="3570697" cy="958884"/>
          </a:xfrm>
        </p:spPr>
        <p:txBody>
          <a:bodyPr>
            <a:normAutofit/>
          </a:bodyPr>
          <a:lstStyle/>
          <a:p>
            <a:r>
              <a:rPr lang="en-IN" sz="4400" b="1" u="sng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Visualization</a:t>
            </a:r>
            <a:endParaRPr sz="4400" b="1" u="sng" dirty="0">
              <a:solidFill>
                <a:srgbClr val="00206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3641" y="1728499"/>
            <a:ext cx="3197531" cy="40969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Customer Churn Distribution</a:t>
            </a:r>
          </a:p>
          <a:p>
            <a:pPr marL="0" indent="0">
              <a:buNone/>
            </a:pPr>
            <a:endParaRPr lang="en-IN" sz="2400" b="1" dirty="0">
              <a:solidFill>
                <a:schemeClr val="tx1">
                  <a:lumMod val="95000"/>
                  <a:lumOff val="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Non-churned(~80%) customers are higher than churned customers(~20%).</a:t>
            </a:r>
          </a:p>
          <a:p>
            <a:endParaRPr lang="en-US" dirty="0"/>
          </a:p>
          <a:p>
            <a:pPr marL="0" indent="0">
              <a:buNone/>
            </a:pPr>
            <a:endParaRPr sz="2400" b="1" dirty="0">
              <a:solidFill>
                <a:schemeClr val="tx1">
                  <a:lumMod val="95000"/>
                  <a:lumOff val="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427B3BF-A067-9016-4317-5A4DB6F41AF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3923072" y="1728499"/>
            <a:ext cx="4709652" cy="479028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15A4C-995C-6BBB-C7C9-E6BDE7757B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AE7AC-7BC2-6891-299C-5800638EA1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92916" y="624110"/>
            <a:ext cx="3570697" cy="958884"/>
          </a:xfrm>
        </p:spPr>
        <p:txBody>
          <a:bodyPr>
            <a:normAutofit/>
          </a:bodyPr>
          <a:lstStyle/>
          <a:p>
            <a:r>
              <a:rPr lang="en-IN" sz="4400" b="1" u="sng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Visualization</a:t>
            </a:r>
            <a:endParaRPr sz="4400" b="1" u="sng" dirty="0">
              <a:solidFill>
                <a:srgbClr val="00206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640189-D368-B362-5373-034D34C105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43641" y="1590848"/>
            <a:ext cx="3197531" cy="40969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Churn Rate by Age</a:t>
            </a:r>
          </a:p>
          <a:p>
            <a:pPr marL="0" indent="0">
              <a:buNone/>
            </a:pPr>
            <a:endParaRPr lang="en-IN" sz="2400" b="1" dirty="0">
              <a:solidFill>
                <a:schemeClr val="tx1">
                  <a:lumMod val="95000"/>
                  <a:lumOff val="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Older or senior customers typically show a higher churn rate.</a:t>
            </a:r>
          </a:p>
          <a:p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Lower Churn in Middle-Aged Customers and younger customers.</a:t>
            </a:r>
          </a:p>
          <a:p>
            <a:endParaRPr lang="en-US" dirty="0"/>
          </a:p>
          <a:p>
            <a:endParaRPr sz="2400" b="1" dirty="0">
              <a:solidFill>
                <a:schemeClr val="tx1">
                  <a:lumMod val="95000"/>
                  <a:lumOff val="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722F469-11C0-B122-FA66-F9194C98779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802831" y="1582994"/>
            <a:ext cx="4046202" cy="4503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68635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E61E9-3C40-7583-40A0-44D5133C8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63027-6B16-B774-6872-529C317C5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92916" y="624110"/>
            <a:ext cx="3570697" cy="958884"/>
          </a:xfrm>
        </p:spPr>
        <p:txBody>
          <a:bodyPr>
            <a:normAutofit/>
          </a:bodyPr>
          <a:lstStyle/>
          <a:p>
            <a:r>
              <a:rPr lang="en-IN" sz="4400" b="1" u="sng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Visualization</a:t>
            </a:r>
            <a:endParaRPr sz="4400" b="1" u="sng" dirty="0">
              <a:solidFill>
                <a:srgbClr val="00206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D03923-4299-7381-F006-9E38B1C034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43641" y="1590847"/>
            <a:ext cx="3197531" cy="449531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Churn Rate by Credit Score</a:t>
            </a:r>
          </a:p>
          <a:p>
            <a:pPr marL="0" indent="0">
              <a:buNone/>
            </a:pPr>
            <a:endParaRPr lang="en-IN" sz="2400" b="1" dirty="0">
              <a:solidFill>
                <a:schemeClr val="tx1">
                  <a:lumMod val="95000"/>
                  <a:lumOff val="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Customers with low credit scores tend to show higher churn rates .</a:t>
            </a:r>
          </a:p>
          <a:p>
            <a:endParaRPr sz="2400" b="1" dirty="0">
              <a:solidFill>
                <a:schemeClr val="tx1">
                  <a:lumMod val="95000"/>
                  <a:lumOff val="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6FE8444-0F22-ADF6-4630-10F8559B33D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802830" y="1590847"/>
            <a:ext cx="3957711" cy="4495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30577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C0C84-9B99-9208-D90D-11AEAE0CD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F21093-B748-5F80-4660-ABC750A0B9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92916" y="624110"/>
            <a:ext cx="3570697" cy="958884"/>
          </a:xfrm>
        </p:spPr>
        <p:txBody>
          <a:bodyPr>
            <a:normAutofit/>
          </a:bodyPr>
          <a:lstStyle/>
          <a:p>
            <a:r>
              <a:rPr lang="en-IN" sz="4400" b="1" u="sng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Visualization</a:t>
            </a:r>
            <a:endParaRPr sz="4400" b="1" u="sng" dirty="0">
              <a:solidFill>
                <a:srgbClr val="00206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FB8418-7332-172B-BCA6-6A7975273F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43641" y="1590847"/>
            <a:ext cx="3197531" cy="449531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Churn Rate by Credit Score</a:t>
            </a:r>
          </a:p>
          <a:p>
            <a:pPr marL="0" indent="0">
              <a:buNone/>
            </a:pPr>
            <a:endParaRPr lang="en-IN" sz="2400" b="1" dirty="0">
              <a:solidFill>
                <a:schemeClr val="tx1">
                  <a:lumMod val="95000"/>
                  <a:lumOff val="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High churn rate in customer group with high and low account balance.</a:t>
            </a:r>
          </a:p>
          <a:p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Relatively low in middle group.</a:t>
            </a:r>
          </a:p>
          <a:p>
            <a:endParaRPr sz="2400" b="1" dirty="0">
              <a:solidFill>
                <a:schemeClr val="tx1">
                  <a:lumMod val="95000"/>
                  <a:lumOff val="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65774213-5F8A-8DE5-3E83-7DCF70BD3C8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802831" y="1590847"/>
            <a:ext cx="3928214" cy="4564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9649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DD15C-7C37-BA58-0C49-DA23B5DBF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B142D1-40CD-2092-A7FE-531887C08F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92916" y="624110"/>
            <a:ext cx="3570697" cy="958884"/>
          </a:xfrm>
        </p:spPr>
        <p:txBody>
          <a:bodyPr>
            <a:normAutofit/>
          </a:bodyPr>
          <a:lstStyle/>
          <a:p>
            <a:r>
              <a:rPr lang="en-IN" sz="4400" b="1" u="sng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Visualization</a:t>
            </a:r>
            <a:endParaRPr sz="4400" b="1" u="sng" dirty="0">
              <a:solidFill>
                <a:srgbClr val="00206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2A04D3-2DD1-4B29-9E4B-582E173BE9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43641" y="1590847"/>
            <a:ext cx="3197531" cy="449531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Churn Rate by Tenure</a:t>
            </a:r>
          </a:p>
          <a:p>
            <a:pPr marL="0" indent="0">
              <a:buNone/>
            </a:pPr>
            <a:endParaRPr lang="en-IN" sz="2400" b="1" dirty="0">
              <a:solidFill>
                <a:schemeClr val="tx1">
                  <a:lumMod val="95000"/>
                  <a:lumOff val="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Higher Churn at Early Tenure (0–1 Years) </a:t>
            </a:r>
          </a:p>
          <a:p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Drop in Churn After Initial Years. </a:t>
            </a:r>
          </a:p>
          <a:p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Stable Churn in Mid Tenure (3–6 Years).</a:t>
            </a:r>
          </a:p>
          <a:p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 Lowest Churn at Tenure 7.</a:t>
            </a:r>
          </a:p>
          <a:p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Slight Increase Again in Later Years (8–9)</a:t>
            </a:r>
          </a:p>
          <a:p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endParaRPr sz="2400" b="1" dirty="0">
              <a:solidFill>
                <a:schemeClr val="tx1">
                  <a:lumMod val="95000"/>
                  <a:lumOff val="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EB36916-B00C-CFF7-0DA0-3A0AEAF6C67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802830" y="1582995"/>
            <a:ext cx="4036369" cy="47686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35874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A1C50-F846-8E0F-6B32-4085A6BA8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E7EA55-153F-50EF-2BCC-3595ECE13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92916" y="624110"/>
            <a:ext cx="3570697" cy="958884"/>
          </a:xfrm>
        </p:spPr>
        <p:txBody>
          <a:bodyPr>
            <a:normAutofit/>
          </a:bodyPr>
          <a:lstStyle/>
          <a:p>
            <a:r>
              <a:rPr lang="en-IN" sz="4400" b="1" u="sng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Visualization</a:t>
            </a:r>
            <a:endParaRPr sz="4400" b="1" u="sng" dirty="0">
              <a:solidFill>
                <a:srgbClr val="00206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57C770-52C7-B3B9-E5CF-824AA71629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43641" y="1590847"/>
            <a:ext cx="3197531" cy="449531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Churn Rate by Salary</a:t>
            </a:r>
          </a:p>
          <a:p>
            <a:pPr marL="0" indent="0">
              <a:buNone/>
            </a:pPr>
            <a:endParaRPr lang="en-IN" sz="2400" b="1" dirty="0">
              <a:solidFill>
                <a:schemeClr val="tx1">
                  <a:lumMod val="95000"/>
                  <a:lumOff val="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Minimal Variation Across Salary Groups</a:t>
            </a:r>
            <a:r>
              <a:rPr lang="en-US" dirty="0"/>
              <a:t>.</a:t>
            </a:r>
          </a:p>
          <a:p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Weak predictor.</a:t>
            </a:r>
          </a:p>
          <a:p>
            <a:endParaRPr sz="2400" b="1" dirty="0">
              <a:solidFill>
                <a:schemeClr val="tx1">
                  <a:lumMod val="95000"/>
                  <a:lumOff val="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B4AA4411-1E2F-29A6-CBC8-649FB62260E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802830" y="1590847"/>
            <a:ext cx="4046201" cy="478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43745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B9AB5-204B-F426-B298-3AF557E811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DCBC9-56EA-C042-CBE2-9A58962F6D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92916" y="624110"/>
            <a:ext cx="3570697" cy="958884"/>
          </a:xfrm>
        </p:spPr>
        <p:txBody>
          <a:bodyPr>
            <a:normAutofit/>
          </a:bodyPr>
          <a:lstStyle/>
          <a:p>
            <a:r>
              <a:rPr lang="en-IN" sz="4400" b="1" u="sng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Visualization</a:t>
            </a:r>
            <a:endParaRPr sz="4400" b="1" u="sng" dirty="0">
              <a:solidFill>
                <a:srgbClr val="00206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BED9CF-1DEE-033E-ADBA-DAC07205A2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43641" y="1590847"/>
            <a:ext cx="3197531" cy="449531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Churn Rate by Salary</a:t>
            </a:r>
          </a:p>
          <a:p>
            <a:pPr marL="0" indent="0">
              <a:buNone/>
            </a:pPr>
            <a:endParaRPr lang="en-IN" sz="2400" b="1" dirty="0">
              <a:solidFill>
                <a:schemeClr val="tx1">
                  <a:lumMod val="95000"/>
                  <a:lumOff val="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Minimal Variation Across Salary Groups</a:t>
            </a:r>
            <a:r>
              <a:rPr lang="en-US" dirty="0"/>
              <a:t>.</a:t>
            </a:r>
          </a:p>
          <a:p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Weak predictor.</a:t>
            </a:r>
          </a:p>
          <a:p>
            <a:endParaRPr sz="2400" b="1" dirty="0">
              <a:solidFill>
                <a:schemeClr val="tx1">
                  <a:lumMod val="95000"/>
                  <a:lumOff val="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DF2D8CBB-26A1-F4CE-40B2-629C85FA2C4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802830" y="1590847"/>
            <a:ext cx="4046201" cy="478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25059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510D2-9612-04FA-94E1-2D3D782EF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3FDA6-E3E7-94FC-F92D-9F553808BA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92916" y="624110"/>
            <a:ext cx="3570697" cy="958884"/>
          </a:xfrm>
        </p:spPr>
        <p:txBody>
          <a:bodyPr>
            <a:normAutofit/>
          </a:bodyPr>
          <a:lstStyle/>
          <a:p>
            <a:r>
              <a:rPr lang="en-IN" sz="4400" b="1" u="sng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Visualization</a:t>
            </a:r>
            <a:endParaRPr sz="4400" b="1" u="sng" dirty="0">
              <a:solidFill>
                <a:srgbClr val="00206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8613E5-E17B-1821-2D37-C054B47384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43641" y="1590847"/>
            <a:ext cx="3733159" cy="449531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Country Vs Total &amp; Churned Customers</a:t>
            </a:r>
          </a:p>
          <a:p>
            <a:pPr marL="0" indent="0">
              <a:buNone/>
            </a:pPr>
            <a:endParaRPr lang="en-IN" sz="2400" b="1" dirty="0">
              <a:solidFill>
                <a:schemeClr val="tx1">
                  <a:lumMod val="95000"/>
                  <a:lumOff val="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IN" dirty="0">
                <a:solidFill>
                  <a:schemeClr val="tx1">
                    <a:lumMod val="95000"/>
                    <a:lumOff val="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France has highest number of customers.</a:t>
            </a:r>
          </a:p>
          <a:p>
            <a:r>
              <a:rPr lang="en-IN" dirty="0">
                <a:solidFill>
                  <a:schemeClr val="tx1">
                    <a:lumMod val="95000"/>
                    <a:lumOff val="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Relatively high churned customers in Germany.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3A9217EC-4AE2-F486-D284-E02E7753DDB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739149" y="1582994"/>
            <a:ext cx="4193534" cy="4750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48399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B7C1A-1820-3E92-F16D-5DDAD12E13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59B61B-C575-A0C2-9132-99D550EA87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92916" y="624110"/>
            <a:ext cx="3570697" cy="958884"/>
          </a:xfrm>
        </p:spPr>
        <p:txBody>
          <a:bodyPr>
            <a:normAutofit/>
          </a:bodyPr>
          <a:lstStyle/>
          <a:p>
            <a:r>
              <a:rPr lang="en-IN" sz="4400" b="1" u="sng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Visualization</a:t>
            </a:r>
            <a:endParaRPr sz="4400" b="1" u="sng" dirty="0">
              <a:solidFill>
                <a:srgbClr val="00206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456755-7049-454D-3820-6C4E893C0D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43641" y="1590847"/>
            <a:ext cx="3733159" cy="449531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Churn Distribution By Gender</a:t>
            </a:r>
          </a:p>
          <a:p>
            <a:pPr marL="0" indent="0">
              <a:buNone/>
            </a:pPr>
            <a:endParaRPr lang="en-IN" sz="2400" b="1" dirty="0">
              <a:solidFill>
                <a:schemeClr val="tx1">
                  <a:lumMod val="95000"/>
                  <a:lumOff val="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IN" b="1" dirty="0">
                <a:solidFill>
                  <a:schemeClr val="tx1">
                    <a:lumMod val="95000"/>
                    <a:lumOff val="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Higher churn among Female customers.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BA153EF-D3E6-1956-D7AE-60257B1B6FD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801243" y="1661652"/>
            <a:ext cx="4214938" cy="4424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4092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D29E67-A5B1-1D3C-98FA-C86775D74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61508-AF44-26D4-3F89-82CB255D7D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92916" y="624110"/>
            <a:ext cx="3570697" cy="958884"/>
          </a:xfrm>
        </p:spPr>
        <p:txBody>
          <a:bodyPr>
            <a:normAutofit/>
          </a:bodyPr>
          <a:lstStyle/>
          <a:p>
            <a:r>
              <a:rPr lang="en-IN" sz="4400" b="1" u="sng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Visualization</a:t>
            </a:r>
            <a:endParaRPr sz="4400" b="1" u="sng" dirty="0">
              <a:solidFill>
                <a:srgbClr val="00206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C9EFA0-3A83-B9C3-FDE9-399DFF8493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43641" y="1590847"/>
            <a:ext cx="3733159" cy="449531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Churn Distribution on Active and Inactive Customers</a:t>
            </a:r>
          </a:p>
          <a:p>
            <a:pPr marL="0" indent="0">
              <a:buNone/>
            </a:pPr>
            <a:endParaRPr lang="en-IN" b="1" dirty="0">
              <a:solidFill>
                <a:schemeClr val="tx1">
                  <a:lumMod val="95000"/>
                  <a:lumOff val="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Inactive members have a significantly higher churn rate compared to active members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IN" b="1" dirty="0">
              <a:solidFill>
                <a:schemeClr val="tx1">
                  <a:lumMod val="95000"/>
                  <a:lumOff val="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092758A-BE68-32AC-1F3E-BFCF3919BA4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788311" y="1769805"/>
            <a:ext cx="4282024" cy="4495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87556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932AC2-F235-28B5-B03F-F997C03BD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EB885-F72A-B0BD-793E-CC90780199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92916" y="624110"/>
            <a:ext cx="3570697" cy="958884"/>
          </a:xfrm>
        </p:spPr>
        <p:txBody>
          <a:bodyPr>
            <a:normAutofit/>
          </a:bodyPr>
          <a:lstStyle/>
          <a:p>
            <a:r>
              <a:rPr lang="en-IN" sz="4400" b="1" u="sng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Visualization</a:t>
            </a:r>
            <a:endParaRPr sz="4400" b="1" u="sng" dirty="0">
              <a:solidFill>
                <a:srgbClr val="00206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48DEF5-AD71-F294-D294-B5765E90F90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43641" y="1590847"/>
            <a:ext cx="3733159" cy="449531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Feature Correlation Map</a:t>
            </a:r>
          </a:p>
          <a:p>
            <a:pPr marL="0" indent="0">
              <a:buNone/>
            </a:pPr>
            <a:r>
              <a:rPr lang="en-IN" sz="2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(</a:t>
            </a:r>
            <a:r>
              <a:rPr lang="en-IN" sz="24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HeatMap</a:t>
            </a:r>
            <a:r>
              <a:rPr lang="en-IN" sz="2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)</a:t>
            </a:r>
          </a:p>
          <a:p>
            <a:pPr marL="0" indent="0">
              <a:buNone/>
            </a:pPr>
            <a:endParaRPr lang="en-IN" dirty="0">
              <a:solidFill>
                <a:schemeClr val="tx1">
                  <a:lumMod val="95000"/>
                  <a:lumOff val="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Age and Account balance shows strong positive correlation with churn.</a:t>
            </a:r>
          </a:p>
          <a:p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Salary doesn't show that much dependencies on churn.</a:t>
            </a:r>
          </a:p>
          <a:p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Credit score and number of products shows negative correlation on churn rate.</a:t>
            </a:r>
          </a:p>
          <a:p>
            <a:pPr marL="0" indent="0">
              <a:buNone/>
            </a:pPr>
            <a:endParaRPr lang="en-IN" dirty="0">
              <a:solidFill>
                <a:schemeClr val="tx1">
                  <a:lumMod val="95000"/>
                  <a:lumOff val="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6E96FCE7-9834-7663-C478-D9542CC77AB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865383" y="1723690"/>
            <a:ext cx="4150798" cy="4598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78259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A239DFF-0376-B1D7-C2F1-6F78000DA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400" b="1" u="sng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Key Insights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332526-F443-5721-AF15-FAD59DD25B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1473" y="1779638"/>
            <a:ext cx="7408062" cy="4562167"/>
          </a:xfrm>
        </p:spPr>
        <p:txBody>
          <a:bodyPr/>
          <a:lstStyle/>
          <a:p>
            <a:r>
              <a:rPr lang="en-US" b="1" dirty="0">
                <a:latin typeface="Cambria" panose="02040503050406030204" pitchFamily="18" charset="0"/>
                <a:ea typeface="Cambria" panose="02040503050406030204" pitchFamily="18" charset="0"/>
              </a:rPr>
              <a:t>Age</a:t>
            </a: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 : Churn rate is higher among </a:t>
            </a:r>
            <a:r>
              <a:rPr lang="en-US" dirty="0" err="1">
                <a:latin typeface="Cambria" panose="02040503050406030204" pitchFamily="18" charset="0"/>
                <a:ea typeface="Cambria" panose="02040503050406030204" pitchFamily="18" charset="0"/>
              </a:rPr>
              <a:t>olderor</a:t>
            </a: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 senior customers.</a:t>
            </a:r>
          </a:p>
          <a:p>
            <a:r>
              <a:rPr lang="en-US" b="1" dirty="0">
                <a:latin typeface="Cambria" panose="02040503050406030204" pitchFamily="18" charset="0"/>
                <a:ea typeface="Cambria" panose="02040503050406030204" pitchFamily="18" charset="0"/>
              </a:rPr>
              <a:t>Credit score </a:t>
            </a: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: Customers with low credit scores tend to show higher churn rates.</a:t>
            </a:r>
          </a:p>
          <a:p>
            <a:r>
              <a:rPr lang="en-US" b="1" dirty="0">
                <a:latin typeface="Cambria" panose="02040503050406030204" pitchFamily="18" charset="0"/>
                <a:ea typeface="Cambria" panose="02040503050406030204" pitchFamily="18" charset="0"/>
              </a:rPr>
              <a:t>Account Balance </a:t>
            </a: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: Customers having both high and low account balance shows higher churn rate.</a:t>
            </a:r>
          </a:p>
          <a:p>
            <a:r>
              <a:rPr lang="en-US" b="1" dirty="0">
                <a:latin typeface="Cambria" panose="02040503050406030204" pitchFamily="18" charset="0"/>
                <a:ea typeface="Cambria" panose="02040503050406030204" pitchFamily="18" charset="0"/>
              </a:rPr>
              <a:t>Tenure</a:t>
            </a: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 : High churn rate in early </a:t>
            </a:r>
            <a:r>
              <a:rPr lang="en-US" dirty="0" err="1">
                <a:latin typeface="Cambria" panose="02040503050406030204" pitchFamily="18" charset="0"/>
                <a:ea typeface="Cambria" panose="02040503050406030204" pitchFamily="18" charset="0"/>
              </a:rPr>
              <a:t>stagges</a:t>
            </a: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</a:p>
          <a:p>
            <a:r>
              <a:rPr lang="en-US" b="1" dirty="0">
                <a:latin typeface="Cambria" panose="02040503050406030204" pitchFamily="18" charset="0"/>
                <a:ea typeface="Cambria" panose="02040503050406030204" pitchFamily="18" charset="0"/>
              </a:rPr>
              <a:t>Salary</a:t>
            </a: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 : Churn is not dependent on the salary.</a:t>
            </a:r>
          </a:p>
          <a:p>
            <a:r>
              <a:rPr lang="en-US" b="1" dirty="0">
                <a:latin typeface="Cambria" panose="02040503050406030204" pitchFamily="18" charset="0"/>
                <a:ea typeface="Cambria" panose="02040503050406030204" pitchFamily="18" charset="0"/>
              </a:rPr>
              <a:t>Geography</a:t>
            </a: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: Germany is having higher churn rate.</a:t>
            </a:r>
          </a:p>
          <a:p>
            <a:r>
              <a:rPr lang="en-US" b="1" dirty="0">
                <a:latin typeface="Cambria" panose="02040503050406030204" pitchFamily="18" charset="0"/>
                <a:ea typeface="Cambria" panose="02040503050406030204" pitchFamily="18" charset="0"/>
              </a:rPr>
              <a:t>Gender</a:t>
            </a: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 : Female customers tends to churn more compared to males.</a:t>
            </a:r>
          </a:p>
          <a:p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Inactive customers churn more compared to active ones.</a:t>
            </a:r>
          </a:p>
        </p:txBody>
      </p:sp>
    </p:spTree>
    <p:extLst>
      <p:ext uri="{BB962C8B-B14F-4D97-AF65-F5344CB8AC3E}">
        <p14:creationId xmlns:p14="http://schemas.microsoft.com/office/powerpoint/2010/main" val="35200821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ECF9F2D-86B1-2AE5-0AF9-C442F60901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0691" y="2632587"/>
            <a:ext cx="6589200" cy="1280890"/>
          </a:xfrm>
        </p:spPr>
        <p:txBody>
          <a:bodyPr>
            <a:normAutofit/>
          </a:bodyPr>
          <a:lstStyle/>
          <a:p>
            <a:r>
              <a:rPr lang="en-IN" sz="7000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398311266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227</TotalTime>
  <Words>540</Words>
  <Application>Microsoft Office PowerPoint</Application>
  <PresentationFormat>On-screen Show (4:3)</PresentationFormat>
  <Paragraphs>100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6" baseType="lpstr">
      <vt:lpstr>Aptos</vt:lpstr>
      <vt:lpstr>Arial</vt:lpstr>
      <vt:lpstr>Arial Black</vt:lpstr>
      <vt:lpstr>Cambria</vt:lpstr>
      <vt:lpstr>Cambria Math</vt:lpstr>
      <vt:lpstr>Century Gothic</vt:lpstr>
      <vt:lpstr>Wingdings 3</vt:lpstr>
      <vt:lpstr>Wisp</vt:lpstr>
      <vt:lpstr>PowerPoint Presentation</vt:lpstr>
      <vt:lpstr>Introduction</vt:lpstr>
      <vt:lpstr>Dataset Overview </vt:lpstr>
      <vt:lpstr>Tech Stack</vt:lpstr>
      <vt:lpstr>Data Handling</vt:lpstr>
      <vt:lpstr>Visualization</vt:lpstr>
      <vt:lpstr>Visualization</vt:lpstr>
      <vt:lpstr>Visualization</vt:lpstr>
      <vt:lpstr>Visualization</vt:lpstr>
      <vt:lpstr>Visualization</vt:lpstr>
      <vt:lpstr>Visualization</vt:lpstr>
      <vt:lpstr>Visualization</vt:lpstr>
      <vt:lpstr>Visualization</vt:lpstr>
      <vt:lpstr>Visualization</vt:lpstr>
      <vt:lpstr>Visualization</vt:lpstr>
      <vt:lpstr>Visualization</vt:lpstr>
      <vt:lpstr>Key Insights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Mariya Babu</dc:creator>
  <cp:keywords/>
  <dc:description>generated using python-pptx</dc:description>
  <cp:lastModifiedBy>Mariya Babu</cp:lastModifiedBy>
  <cp:revision>3</cp:revision>
  <dcterms:created xsi:type="dcterms:W3CDTF">2013-01-27T09:14:16Z</dcterms:created>
  <dcterms:modified xsi:type="dcterms:W3CDTF">2026-04-03T11:54:33Z</dcterms:modified>
  <cp:category/>
</cp:coreProperties>
</file>