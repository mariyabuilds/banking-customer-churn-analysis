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329" r:id="rId18"/>
    <p:sldId id="331" r:id="rId19"/>
    <p:sldId id="330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3AE24D-04D5-4F5F-9720-5463AED25156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A8FF3-E886-446C-BD40-B0856AB9F0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353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8A8FF3-E886-446C-BD40-B0856AB9F05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725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90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01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544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923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80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34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69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52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64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57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6165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88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26785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563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916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249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013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dfreephotos.com/business-and-technology/laptop-screen-with-analytics.jpg.php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mavenanalytics.io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45719" cy="1280890"/>
          </a:xfrm>
        </p:spPr>
        <p:txBody>
          <a:bodyPr>
            <a:noAutofit/>
          </a:bodyPr>
          <a:lstStyle/>
          <a:p>
            <a:endParaRPr sz="4800" i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BE068C8-BB4C-187A-9229-2D9F951524C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49161" y="0"/>
            <a:ext cx="4621161" cy="6858000"/>
          </a:xfr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A909564-099D-51AC-43FB-3A77627B3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9316" y="643773"/>
            <a:ext cx="4495800" cy="5825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400" b="1" i="1" dirty="0">
                <a:solidFill>
                  <a:schemeClr val="tx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Banking Customer </a:t>
            </a:r>
          </a:p>
          <a:p>
            <a:pPr marL="0" indent="0">
              <a:buNone/>
            </a:pPr>
            <a:r>
              <a:rPr lang="en-IN" sz="4400" b="1" i="1" dirty="0">
                <a:solidFill>
                  <a:schemeClr val="tx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Churn Analysis</a:t>
            </a:r>
          </a:p>
          <a:p>
            <a:pPr marL="0" indent="0">
              <a:buNone/>
            </a:pPr>
            <a:endParaRPr lang="en-IN" sz="4400" b="1" i="1" dirty="0">
              <a:solidFill>
                <a:schemeClr val="tx2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IN" sz="16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Prepared By:</a:t>
            </a:r>
          </a:p>
          <a:p>
            <a:pPr marL="0" indent="0">
              <a:buNone/>
            </a:pPr>
            <a:r>
              <a:rPr lang="en-IN" sz="24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Mariya Babu</a:t>
            </a:r>
            <a:endParaRPr lang="en-IN" sz="2400" b="1" dirty="0">
              <a:solidFill>
                <a:schemeClr val="tx1">
                  <a:lumMod val="85000"/>
                  <a:lumOff val="1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06665"/>
            <a:ext cx="6589199" cy="880225"/>
          </a:xfrm>
        </p:spPr>
        <p:txBody>
          <a:bodyPr>
            <a:normAutofit/>
          </a:bodyPr>
          <a:lstStyle/>
          <a:p>
            <a:r>
              <a:rPr lang="en-US" sz="4400" b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  <a:endParaRPr sz="4400" b="1" u="sng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7279" y="1540189"/>
            <a:ext cx="6591985" cy="3777622"/>
          </a:xfrm>
        </p:spPr>
        <p:txBody>
          <a:bodyPr/>
          <a:lstStyle/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Customer Churn : Customers leaving the bank.</a:t>
            </a:r>
          </a:p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Loss of revenue and increased acquisition costs.</a:t>
            </a:r>
          </a:p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Difficult to identify customers who are likely to leave.</a:t>
            </a:r>
          </a:p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Analyze customer data and identify key factors influencing churn.</a:t>
            </a:r>
          </a:p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Predict at-risk customers and improve retention strategies.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u="sng" dirty="0">
                <a:solidFill>
                  <a:srgbClr val="002060"/>
                </a:solidFill>
              </a:rPr>
              <a:t>Dataset Overview </a:t>
            </a:r>
            <a:endParaRPr sz="4400" b="1" u="sng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Dataset from </a:t>
            </a:r>
            <a:r>
              <a:rPr lang="en-US" sz="2000" dirty="0">
                <a:solidFill>
                  <a:srgbClr val="FB4A18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https://mavenanalytics.io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10,000 customers at a European bank.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13 variables for analysis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 Customer Info: Age, Gender, Geography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2. Account Info: Balance, Tenure, </a:t>
            </a:r>
            <a:r>
              <a:rPr lang="en-IN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Products,Salary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3. </a:t>
            </a:r>
            <a:r>
              <a:rPr lang="en-IN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Behavior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Active Status, Credit Card Score and availability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4. Target: Churn (Exited / Not Exited)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Tech Stack</a:t>
            </a:r>
            <a:endParaRPr sz="4400" b="1" u="sng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Language : Python</a:t>
            </a:r>
          </a:p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Manipulation: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Numpy,Pandas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Visualization : Seaborn, Matplotlib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Handling</a:t>
            </a:r>
            <a:endParaRPr sz="4400" b="1" u="sng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Missing values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  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-Applied mean amputation for numerical values.</a:t>
            </a:r>
          </a:p>
          <a:p>
            <a:pPr marL="0" indent="0"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-Removed the column Surname as it is not necessary </a:t>
            </a:r>
          </a:p>
          <a:p>
            <a:pPr marL="0" indent="0"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for analysis.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Duplicates</a:t>
            </a:r>
          </a:p>
          <a:p>
            <a:pPr marL="0" indent="0"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	-Removed the duplicates.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Removed unwanted symbols.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Changed the datatypes.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Formatted column headers and standardized the column values.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16" y="624110"/>
            <a:ext cx="3570697" cy="958884"/>
          </a:xfrm>
        </p:spPr>
        <p:txBody>
          <a:bodyPr>
            <a:normAutofit/>
          </a:bodyPr>
          <a:lstStyle/>
          <a:p>
            <a:r>
              <a:rPr lang="en-IN" sz="4400" b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Visualization</a:t>
            </a:r>
            <a:endParaRPr sz="4400" b="1" u="sng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641" y="1728499"/>
            <a:ext cx="3197531" cy="40969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Customer Churn Distribution</a:t>
            </a:r>
          </a:p>
          <a:p>
            <a:pPr marL="0" indent="0">
              <a:buNone/>
            </a:pP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Non-churned(~80%) customers are higher than churned customers(~20%).</a:t>
            </a:r>
          </a:p>
          <a:p>
            <a:endParaRPr lang="en-US" dirty="0"/>
          </a:p>
          <a:p>
            <a:pPr marL="0" indent="0">
              <a:buNone/>
            </a:pPr>
            <a:endParaRPr sz="24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427B3BF-A067-9016-4317-5A4DB6F41A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923072" y="1728499"/>
            <a:ext cx="4709652" cy="47902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15A4C-995C-6BBB-C7C9-E6BDE7757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AE7AC-7BC2-6891-299C-5800638EA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916" y="624110"/>
            <a:ext cx="3570697" cy="958884"/>
          </a:xfrm>
        </p:spPr>
        <p:txBody>
          <a:bodyPr>
            <a:normAutofit/>
          </a:bodyPr>
          <a:lstStyle/>
          <a:p>
            <a:r>
              <a:rPr lang="en-IN" sz="4400" b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Visualization</a:t>
            </a:r>
            <a:endParaRPr sz="4400" b="1" u="sng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40189-D368-B362-5373-034D34C105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641" y="1590848"/>
            <a:ext cx="3197531" cy="40969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Churn Rate by Age</a:t>
            </a:r>
          </a:p>
          <a:p>
            <a:pPr marL="0" indent="0">
              <a:buNone/>
            </a:pP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Older or senior customers typically show a higher churn rate.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Lower Churn in Middle-Aged Customers and younger customers.</a:t>
            </a:r>
          </a:p>
          <a:p>
            <a:endParaRPr lang="en-US" dirty="0"/>
          </a:p>
          <a:p>
            <a:endParaRPr sz="24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722F469-11C0-B122-FA66-F9194C98779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02831" y="1582994"/>
            <a:ext cx="4046202" cy="450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863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E61E9-3C40-7583-40A0-44D5133C8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63027-6B16-B774-6872-529C317C5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916" y="624110"/>
            <a:ext cx="3570697" cy="958884"/>
          </a:xfrm>
        </p:spPr>
        <p:txBody>
          <a:bodyPr>
            <a:normAutofit/>
          </a:bodyPr>
          <a:lstStyle/>
          <a:p>
            <a:r>
              <a:rPr lang="en-IN" sz="4400" b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Visualization</a:t>
            </a:r>
            <a:endParaRPr sz="4400" b="1" u="sng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03923-4299-7381-F006-9E38B1C03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641" y="1590847"/>
            <a:ext cx="3197531" cy="4495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Churn Rate by Credit Score</a:t>
            </a:r>
          </a:p>
          <a:p>
            <a:pPr marL="0" indent="0">
              <a:buNone/>
            </a:pP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Customers with low credit scores tend to show higher churn rates .</a:t>
            </a:r>
          </a:p>
          <a:p>
            <a:endParaRPr sz="24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6FE8444-0F22-ADF6-4630-10F8559B33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02830" y="1590847"/>
            <a:ext cx="3957711" cy="449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57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C0C84-9B99-9208-D90D-11AEAE0CD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21093-B748-5F80-4660-ABC750A0B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916" y="624110"/>
            <a:ext cx="3570697" cy="958884"/>
          </a:xfrm>
        </p:spPr>
        <p:txBody>
          <a:bodyPr>
            <a:normAutofit/>
          </a:bodyPr>
          <a:lstStyle/>
          <a:p>
            <a:r>
              <a:rPr lang="en-IN" sz="4400" b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Visualization</a:t>
            </a:r>
            <a:endParaRPr sz="4400" b="1" u="sng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B8418-7332-172B-BCA6-6A7975273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641" y="1590847"/>
            <a:ext cx="3197531" cy="4495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Churn Rate by Account Balance</a:t>
            </a:r>
          </a:p>
          <a:p>
            <a:pPr marL="0" indent="0">
              <a:buNone/>
            </a:pP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High churn rate in customer group with high and low account balance.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Relatively low in middle group.</a:t>
            </a:r>
          </a:p>
          <a:p>
            <a:endParaRPr sz="24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5774213-5F8A-8DE5-3E83-7DCF70BD3C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02831" y="1590847"/>
            <a:ext cx="3928214" cy="456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964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DD15C-7C37-BA58-0C49-DA23B5DBF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142D1-40CD-2092-A7FE-531887C08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916" y="624110"/>
            <a:ext cx="3570697" cy="958884"/>
          </a:xfrm>
        </p:spPr>
        <p:txBody>
          <a:bodyPr>
            <a:normAutofit/>
          </a:bodyPr>
          <a:lstStyle/>
          <a:p>
            <a:r>
              <a:rPr lang="en-IN" sz="4400" b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Visualization</a:t>
            </a:r>
            <a:endParaRPr sz="4400" b="1" u="sng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A04D3-2DD1-4B29-9E4B-582E173BE9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641" y="1590847"/>
            <a:ext cx="3197531" cy="4495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Churn Rate by Tenure</a:t>
            </a:r>
          </a:p>
          <a:p>
            <a:pPr marL="0" indent="0">
              <a:buNone/>
            </a:pP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Higher Churn at Early Tenure (0–1 Years)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Drop in Churn After Initial Years.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Stable Churn in Mid Tenure (3–6 Years).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Lowest Churn at Tenure 7.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Slight Increase Again in Later Years (8–9)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sz="24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EB36916-B00C-CFF7-0DA0-3A0AEAF6C6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02830" y="1582995"/>
            <a:ext cx="4036369" cy="476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587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A1C50-F846-8E0F-6B32-4085A6BA8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7EA55-153F-50EF-2BCC-3595ECE13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916" y="624110"/>
            <a:ext cx="3570697" cy="958884"/>
          </a:xfrm>
        </p:spPr>
        <p:txBody>
          <a:bodyPr>
            <a:normAutofit/>
          </a:bodyPr>
          <a:lstStyle/>
          <a:p>
            <a:r>
              <a:rPr lang="en-IN" sz="4400" b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Visualization</a:t>
            </a:r>
            <a:endParaRPr sz="4400" b="1" u="sng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7C770-52C7-B3B9-E5CF-824AA71629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641" y="1590847"/>
            <a:ext cx="3197531" cy="4495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Churn Rate by Salary</a:t>
            </a:r>
          </a:p>
          <a:p>
            <a:pPr marL="0" indent="0">
              <a:buNone/>
            </a:pP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Minimal Variation Across Salary Groups</a:t>
            </a:r>
            <a:r>
              <a:rPr lang="en-US" dirty="0"/>
              <a:t>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Weak predictor.</a:t>
            </a:r>
          </a:p>
          <a:p>
            <a:endParaRPr sz="24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4AA4411-1E2F-29A6-CBC8-649FB62260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02830" y="1590847"/>
            <a:ext cx="4046201" cy="478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374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B9AB5-204B-F426-B298-3AF557E81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DCBC9-56EA-C042-CBE2-9A58962F6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916" y="624110"/>
            <a:ext cx="3570697" cy="958884"/>
          </a:xfrm>
        </p:spPr>
        <p:txBody>
          <a:bodyPr>
            <a:normAutofit/>
          </a:bodyPr>
          <a:lstStyle/>
          <a:p>
            <a:r>
              <a:rPr lang="en-IN" sz="4400" b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Visualization</a:t>
            </a:r>
            <a:endParaRPr sz="4400" b="1" u="sng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ED9CF-1DEE-033E-ADBA-DAC07205A2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641" y="1590847"/>
            <a:ext cx="3197531" cy="4495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Churn Rate by Salary</a:t>
            </a:r>
          </a:p>
          <a:p>
            <a:pPr marL="0" indent="0">
              <a:buNone/>
            </a:pP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Minimal Variation Across Salary Groups</a:t>
            </a:r>
            <a:r>
              <a:rPr lang="en-US" dirty="0"/>
              <a:t>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Weak predictor.</a:t>
            </a:r>
          </a:p>
          <a:p>
            <a:endParaRPr sz="24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F2D8CBB-26A1-F4CE-40B2-629C85FA2C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02830" y="1590847"/>
            <a:ext cx="4046201" cy="478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505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510D2-9612-04FA-94E1-2D3D782EF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3FDA6-E3E7-94FC-F92D-9F553808B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916" y="624110"/>
            <a:ext cx="3570697" cy="958884"/>
          </a:xfrm>
        </p:spPr>
        <p:txBody>
          <a:bodyPr>
            <a:normAutofit/>
          </a:bodyPr>
          <a:lstStyle/>
          <a:p>
            <a:r>
              <a:rPr lang="en-IN" sz="4400" b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Visualization</a:t>
            </a:r>
            <a:endParaRPr sz="4400" b="1" u="sng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613E5-E17B-1821-2D37-C054B47384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641" y="1590847"/>
            <a:ext cx="3733159" cy="4495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Country Vs Total &amp; Churned Customers</a:t>
            </a:r>
          </a:p>
          <a:p>
            <a:pPr marL="0" indent="0">
              <a:buNone/>
            </a:pP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France has highest number of customers.</a:t>
            </a: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Relatively high churned customers in Germany.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A9217EC-4AE2-F486-D284-E02E7753DD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39149" y="1582994"/>
            <a:ext cx="4193534" cy="475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839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B7C1A-1820-3E92-F16D-5DDAD12E1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9B61B-C575-A0C2-9132-99D550EA8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916" y="624110"/>
            <a:ext cx="3570697" cy="958884"/>
          </a:xfrm>
        </p:spPr>
        <p:txBody>
          <a:bodyPr>
            <a:normAutofit/>
          </a:bodyPr>
          <a:lstStyle/>
          <a:p>
            <a:r>
              <a:rPr lang="en-IN" sz="4400" b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Visualization</a:t>
            </a:r>
            <a:endParaRPr sz="4400" b="1" u="sng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56755-7049-454D-3820-6C4E893C0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641" y="1590847"/>
            <a:ext cx="3733159" cy="4495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Churn Distribution By Gender</a:t>
            </a:r>
          </a:p>
          <a:p>
            <a:pPr marL="0" indent="0">
              <a:buNone/>
            </a:pP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Higher churn among Female customers.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BA153EF-D3E6-1956-D7AE-60257B1B6F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01243" y="1661652"/>
            <a:ext cx="4214938" cy="442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409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29E67-A5B1-1D3C-98FA-C86775D74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61508-AF44-26D4-3F89-82CB255D7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916" y="624110"/>
            <a:ext cx="3570697" cy="958884"/>
          </a:xfrm>
        </p:spPr>
        <p:txBody>
          <a:bodyPr>
            <a:normAutofit/>
          </a:bodyPr>
          <a:lstStyle/>
          <a:p>
            <a:r>
              <a:rPr lang="en-IN" sz="4400" b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Visualization</a:t>
            </a:r>
            <a:endParaRPr sz="4400" b="1" u="sng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9EFA0-3A83-B9C3-FDE9-399DFF8493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641" y="1590847"/>
            <a:ext cx="3733159" cy="4495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Churn Distribution on Active and Inactive Customers</a:t>
            </a:r>
          </a:p>
          <a:p>
            <a:pPr marL="0" indent="0">
              <a:buNone/>
            </a:pP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Inactive members have a significantly higher churn rate compared to active members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092758A-BE68-32AC-1F3E-BFCF3919BA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88311" y="1769805"/>
            <a:ext cx="4282024" cy="449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755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32AC2-F235-28B5-B03F-F997C03BD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B885-F72A-B0BD-793E-CC9078019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916" y="624110"/>
            <a:ext cx="3570697" cy="958884"/>
          </a:xfrm>
        </p:spPr>
        <p:txBody>
          <a:bodyPr>
            <a:normAutofit/>
          </a:bodyPr>
          <a:lstStyle/>
          <a:p>
            <a:r>
              <a:rPr lang="en-IN" sz="4400" b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Visualization</a:t>
            </a:r>
            <a:endParaRPr sz="4400" b="1" u="sng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8DEF5-AD71-F294-D294-B5765E90F9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641" y="1590847"/>
            <a:ext cx="3733159" cy="4495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Feature Correlation Map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sz="2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HeatMap</a:t>
            </a: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Age and Account balance shows strong positive correlation with churn.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Salary doesn't show that much dependencies on churn.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Credit score and number of products shows negative correlation on churn rate.</a:t>
            </a:r>
          </a:p>
          <a:p>
            <a:pPr marL="0" indent="0">
              <a:buNone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E96FCE7-9834-7663-C478-D9542CC77A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65383" y="1723690"/>
            <a:ext cx="4150798" cy="459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825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239DFF-0376-B1D7-C2F1-6F78000DA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Insights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332526-F443-5721-AF15-FAD59DD25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1473" y="1779638"/>
            <a:ext cx="7408062" cy="4562167"/>
          </a:xfrm>
        </p:spPr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Age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: Churn rate is higher among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olderor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senior customers.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Credit score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Customers with low credit scores tend to show higher churn rates.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Account Balance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Customers having both high and low account balance shows higher churn rate.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Tenure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: High churn rate in early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stagges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Salary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: Churn is not dependent on the salary.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Geography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Germany is having higher churn rate.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Gender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: Female customers tends to churn more compared to males.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Inactive customers churn more compared to active ones.</a:t>
            </a:r>
          </a:p>
        </p:txBody>
      </p:sp>
    </p:spTree>
    <p:extLst>
      <p:ext uri="{BB962C8B-B14F-4D97-AF65-F5344CB8AC3E}">
        <p14:creationId xmlns:p14="http://schemas.microsoft.com/office/powerpoint/2010/main" val="3520082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DA66B-8876-8A99-352F-449F4F51D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24110"/>
            <a:ext cx="7452851" cy="1280890"/>
          </a:xfrm>
        </p:spPr>
        <p:txBody>
          <a:bodyPr>
            <a:normAutofit fontScale="90000"/>
          </a:bodyPr>
          <a:lstStyle/>
          <a:p>
            <a:r>
              <a:rPr lang="en-IN" sz="49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Business Recommendations</a:t>
            </a:r>
            <a:br>
              <a:rPr lang="en-IN" dirty="0">
                <a:solidFill>
                  <a:srgbClr val="002060"/>
                </a:solidFill>
              </a:rPr>
            </a:b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CCE29-5751-292A-5633-302537702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1" y="1691148"/>
            <a:ext cx="7010400" cy="4857136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Increase customer engagement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Launch targeted campaigns for inactive customers </a:t>
            </a:r>
          </a:p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Focus on high-value customers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Provide personalized offers and premium services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Improve customer experience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Strengthen support and resolve complaints faster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 data-driven strategies</a:t>
            </a:r>
            <a:br>
              <a:rPr lang="en-US" alt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Continuously monitor churn trends and customer behavior </a:t>
            </a:r>
          </a:p>
          <a:p>
            <a:r>
              <a:rPr lang="en-US" alt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Implement predictive analytics</a:t>
            </a:r>
            <a:br>
              <a:rPr lang="en-US" alt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Identify at-risk customers early and take proactive actions 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740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CF9F2D-86B1-2AE5-0AF9-C442F6090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0691" y="2632587"/>
            <a:ext cx="6589200" cy="1280890"/>
          </a:xfrm>
        </p:spPr>
        <p:txBody>
          <a:bodyPr>
            <a:normAutofit/>
          </a:bodyPr>
          <a:lstStyle/>
          <a:p>
            <a:r>
              <a:rPr lang="en-IN" sz="70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831126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243</TotalTime>
  <Words>606</Words>
  <Application>Microsoft Office PowerPoint</Application>
  <PresentationFormat>On-screen Show (4:3)</PresentationFormat>
  <Paragraphs>106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Arial</vt:lpstr>
      <vt:lpstr>Arial Black</vt:lpstr>
      <vt:lpstr>Cambria</vt:lpstr>
      <vt:lpstr>Cambria Math</vt:lpstr>
      <vt:lpstr>Century Gothic</vt:lpstr>
      <vt:lpstr>Wingdings 3</vt:lpstr>
      <vt:lpstr>Wisp</vt:lpstr>
      <vt:lpstr>PowerPoint Presentation</vt:lpstr>
      <vt:lpstr>Introduction</vt:lpstr>
      <vt:lpstr>Dataset Overview </vt:lpstr>
      <vt:lpstr>Tech Stack</vt:lpstr>
      <vt:lpstr>Data Handling</vt:lpstr>
      <vt:lpstr>Visualization</vt:lpstr>
      <vt:lpstr>Visualization</vt:lpstr>
      <vt:lpstr>Visualization</vt:lpstr>
      <vt:lpstr>Visualization</vt:lpstr>
      <vt:lpstr>Visualization</vt:lpstr>
      <vt:lpstr>Visualization</vt:lpstr>
      <vt:lpstr>Visualization</vt:lpstr>
      <vt:lpstr>Visualization</vt:lpstr>
      <vt:lpstr>Visualization</vt:lpstr>
      <vt:lpstr>Visualization</vt:lpstr>
      <vt:lpstr>Visualization</vt:lpstr>
      <vt:lpstr>Key Insights</vt:lpstr>
      <vt:lpstr>Business Recommendations 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Mariya Babu</dc:creator>
  <cp:keywords/>
  <dc:description>generated using python-pptx</dc:description>
  <cp:lastModifiedBy>Mariya Babu</cp:lastModifiedBy>
  <cp:revision>4</cp:revision>
  <dcterms:created xsi:type="dcterms:W3CDTF">2013-01-27T09:14:16Z</dcterms:created>
  <dcterms:modified xsi:type="dcterms:W3CDTF">2026-04-04T05:41:35Z</dcterms:modified>
  <cp:category/>
</cp:coreProperties>
</file>